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9" r:id="rId3"/>
    <p:sldId id="261" r:id="rId4"/>
    <p:sldId id="259" r:id="rId5"/>
    <p:sldId id="260" r:id="rId6"/>
    <p:sldId id="268" r:id="rId7"/>
    <p:sldId id="284" r:id="rId8"/>
    <p:sldId id="262" r:id="rId9"/>
    <p:sldId id="263" r:id="rId10"/>
    <p:sldId id="264" r:id="rId11"/>
    <p:sldId id="276" r:id="rId12"/>
    <p:sldId id="277" r:id="rId13"/>
    <p:sldId id="283" r:id="rId14"/>
    <p:sldId id="281" r:id="rId15"/>
    <p:sldId id="279" r:id="rId16"/>
    <p:sldId id="280" r:id="rId17"/>
    <p:sldId id="282" r:id="rId18"/>
    <p:sldId id="273" r:id="rId19"/>
    <p:sldId id="285" r:id="rId20"/>
    <p:sldId id="28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848"/>
    <a:srgbClr val="FEE6DE"/>
    <a:srgbClr val="FEC7C6"/>
    <a:srgbClr val="B93B13"/>
    <a:srgbClr val="D10D0D"/>
    <a:srgbClr val="F44A4A"/>
    <a:srgbClr val="EF0D07"/>
    <a:srgbClr val="F11717"/>
    <a:srgbClr val="CF5959"/>
    <a:srgbClr val="D4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A046-9AA8-6034-4B70-BA228B9A9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843A8-F7C6-F127-D260-92A1DC69C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83810-ED6A-CBBD-6C84-22505E98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616A2-C6AD-437F-B225-B8E592A2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E35A8-13FB-7AB6-8CCB-EFD1420F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1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6DCB-E70E-BD44-2373-69B2C2D97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224F-2DE0-A959-4E44-C6093FC60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64826-759B-4685-E682-B10DCFA7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34D9B-96BE-44D4-D079-E4632FD7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693C-663C-B18D-48B4-AF7E01E9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66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5E90-FEBC-AF64-05CA-B6762D29E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F0AE1-F7A9-B9D4-ABB4-F2D92964F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8D84-FB63-EBC5-75BE-4723252A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E076-4883-210C-658F-39A0EC43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01D8B-52D5-1CA8-EED3-708FA4B7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8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A4BE-31A9-4BEF-3F46-9DD4FD9E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ACC3C-E763-F262-A0F3-01EEE33E9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D73BB-FECC-3FA6-2975-89746DB92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79F6D-6E61-99D2-FDF9-8F57E05B8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C1E43-5A68-4DF5-084C-4AB5CE96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CDFEC-F3A6-A9F8-A31A-092AFFA6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47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A7AC-B97E-6759-BE4D-49C3DAA92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CADAB-1AA2-D9CB-7965-41C33055B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10F9A-62B8-7EC6-4C93-B6C10D704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C8F55-ED3C-FD28-EC91-25F48B57A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F6C08-E35F-3333-3433-B0CA27E74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8829F6-FA48-840B-72BB-A184F228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5E0FE-5BA5-4DD3-8E03-C8BCD8E7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4BE2E-62C1-8E41-39DA-F75792EF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95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E9DE-5172-33AA-858C-12BAD835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EEA26-B1DE-948E-1EF8-0CBE234A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54ECF-886B-3C93-8674-6374EADC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461D8-6B52-ABB8-3B35-CD4463EE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47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D69DC-514C-5BBE-6D49-CF835020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9EE85-74B5-0D75-A9EC-ECB153F3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B82AF-7FF6-18BB-AF6C-17D1B04F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2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ADB3-C86F-59FB-A23A-C4127DBD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A4B3-38A3-8B6C-D656-C3F539543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6D4DE-6C73-3CCD-327C-D6B940F1F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53FD8-D1BA-1068-D05B-EB1746AF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4A7C4-10EF-D424-9502-E0AB8F81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E0E6E-64AD-5B65-D07B-D876D17F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79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C37EB-7F11-678A-92D7-5A6942675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3EDC3-1082-9AF3-3332-0CE490BF5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46A4-C171-3F7A-E7AB-2442CC4EF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0CCC9-3293-8346-7ECA-44955B70F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A20AC-BD24-898E-01F3-1FF46D20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CFACE-E1A1-3AEB-9AB9-55835303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73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4C55-C2A9-230C-CE61-3A3F834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A20D7-CA05-556A-4430-E6799527C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B518-E312-D56B-F2F5-B33AA412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70003-CB1C-C7AA-2D0F-8BF92A7BF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95EB6-9308-F029-7E49-B577220B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6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A1121-F4BE-7709-5C4B-79F8EF234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49C28-A28C-5A9A-310C-8ED242C99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61ED3-3747-06F1-910C-8A889707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D1085-DDB1-990A-6284-9E8F7AF4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C9500-01F7-1D54-B16E-02A6BD84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15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52108-C23A-F491-661C-BC1964C6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EB982-1973-D70A-96FE-DE3C2E943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76E33-46A5-FFAD-6620-8A18D8E9E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1F96E-5E18-41AB-8A27-0A369B03B435}" type="datetimeFigureOut">
              <a:rPr lang="en-IN" smtClean="0"/>
              <a:t>19-03-2024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7998A-9F58-2CFD-D589-189C62083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356D8-8148-78AF-8DAF-9AA576F71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AB15C-9900-4F55-BA54-BAC141A50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0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ypeset.io/papers/early-diagnosis-of-pancreatic-cancer-by-machine-learning-d46aeknt" TargetMode="External"/><Relationship Id="rId2" Type="http://schemas.openxmlformats.org/officeDocument/2006/relationships/hyperlink" Target="https://typeset.io/papers/a-combination-of-urinary-biomarker-panel-and-pancrisk-score-2h058enivj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ypeset.io/papers/pad-a-pancreatic-cancer-detection-based-on-extracted-medical-2ncozgu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ypeset.io/papers/pancreatic-cancer-prediction-through-convolutional-neural-2ia9rw4n" TargetMode="External"/><Relationship Id="rId2" Type="http://schemas.openxmlformats.org/officeDocument/2006/relationships/hyperlink" Target="https://typeset.io/papers/comparing-decision-tree-and-logistic-regression-for-4qrik8i1x4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ypeset.io/papers/construction-of-a-convolutional-neural-network-classifier-1jlwkdyww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9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med.1003489" TargetMode="External"/><Relationship Id="rId2" Type="http://schemas.openxmlformats.org/officeDocument/2006/relationships/hyperlink" Target="https://doi.org/10.55730/1300-0632.397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DASA51403.2020.9317036" TargetMode="External"/><Relationship Id="rId5" Type="http://schemas.openxmlformats.org/officeDocument/2006/relationships/hyperlink" Target="https://doi.org/10.14569/IJACSA.2022.0130218" TargetMode="External"/><Relationship Id="rId4" Type="http://schemas.openxmlformats.org/officeDocument/2006/relationships/hyperlink" Target="https://doi.org/10.3748/wjg.v26.i34.5156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EDEC-25DF-946B-D13D-208AFBC1F4A8}"/>
              </a:ext>
            </a:extLst>
          </p:cNvPr>
          <p:cNvSpPr txBox="1">
            <a:spLocks/>
          </p:cNvSpPr>
          <p:nvPr/>
        </p:nvSpPr>
        <p:spPr>
          <a:xfrm>
            <a:off x="1789108" y="332874"/>
            <a:ext cx="8613775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Pancreatic Cancer Detection Using Machine Learning Algorithms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C1A39-9447-EF86-E641-19056C776F40}"/>
              </a:ext>
            </a:extLst>
          </p:cNvPr>
          <p:cNvSpPr txBox="1"/>
          <p:nvPr/>
        </p:nvSpPr>
        <p:spPr>
          <a:xfrm>
            <a:off x="4525614" y="1881327"/>
            <a:ext cx="3140765" cy="1401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lang="en-US"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Seminar Report Presented By,</a:t>
            </a:r>
          </a:p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B93B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Shivani Prasad </a:t>
            </a:r>
          </a:p>
          <a:p>
            <a:pPr marL="12700" algn="ctr">
              <a:lnSpc>
                <a:spcPct val="150000"/>
              </a:lnSpc>
              <a:spcBef>
                <a:spcPts val="100"/>
              </a:spcBef>
            </a:pPr>
            <a:r>
              <a:rPr lang="en-US" sz="2000" b="1" spc="-5" dirty="0">
                <a:solidFill>
                  <a:srgbClr val="B93B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A123008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E4D1D-B426-5769-C4C4-29B171F82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193907" y="3429000"/>
            <a:ext cx="1804180" cy="1812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BD897E-8125-15DD-2E3E-1FA2454CA050}"/>
              </a:ext>
            </a:extLst>
          </p:cNvPr>
          <p:cNvSpPr txBox="1"/>
          <p:nvPr/>
        </p:nvSpPr>
        <p:spPr>
          <a:xfrm>
            <a:off x="3047997" y="5163462"/>
            <a:ext cx="6096000" cy="117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Institute of Information Technology Bhubaneswar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March, 2024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1741A46-0B3F-705B-CE26-B6CC782F6364}"/>
              </a:ext>
            </a:extLst>
          </p:cNvPr>
          <p:cNvSpPr/>
          <p:nvPr/>
        </p:nvSpPr>
        <p:spPr>
          <a:xfrm flipV="1">
            <a:off x="1272209" y="1624761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265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EDEC-25DF-946B-D13D-208AFBC1F4A8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8CEEB-7B87-F066-C02A-D7F1F83ADB0E}"/>
              </a:ext>
            </a:extLst>
          </p:cNvPr>
          <p:cNvSpPr txBox="1"/>
          <p:nvPr/>
        </p:nvSpPr>
        <p:spPr>
          <a:xfrm>
            <a:off x="1873709" y="1524588"/>
            <a:ext cx="2817561" cy="452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analysis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ts val="3483"/>
              </a:lnSpc>
              <a:buFont typeface="+mj-lt"/>
              <a:buAutoNum type="arabicPeriod"/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962A6C-E49E-03CE-CB07-B3C6D04A83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13" t="13160" r="7053" b="17812"/>
          <a:stretch/>
        </p:blipFill>
        <p:spPr>
          <a:xfrm flipH="1">
            <a:off x="6096000" y="1610483"/>
            <a:ext cx="4938853" cy="3999775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B3DF058E-6294-306E-ADFE-FD2A55EE6679}"/>
              </a:ext>
            </a:extLst>
          </p:cNvPr>
          <p:cNvSpPr/>
          <p:nvPr/>
        </p:nvSpPr>
        <p:spPr>
          <a:xfrm flipV="1">
            <a:off x="1272209" y="1174192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959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168E0-E31F-E1ED-482E-B3CF0A22FFF1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09958-2AD7-6787-0717-9C46CECF4730}"/>
              </a:ext>
            </a:extLst>
          </p:cNvPr>
          <p:cNvSpPr txBox="1"/>
          <p:nvPr/>
        </p:nvSpPr>
        <p:spPr>
          <a:xfrm>
            <a:off x="1111462" y="1815028"/>
            <a:ext cx="9700591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98599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Pancreatic cancer is a deadly disease, boasting a mere 10% survival rate over five years.</a:t>
            </a:r>
          </a:p>
          <a:p>
            <a:pPr marL="598599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crucial for improving survival rates.</a:t>
            </a:r>
          </a:p>
          <a:p>
            <a:pPr marL="598599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offers hope for early detection by analyzing vast amounts of data.</a:t>
            </a:r>
          </a:p>
          <a:p>
            <a:pPr marL="598599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can detect subtle indications of pancreatic cancer, enhancing current detection methods.</a:t>
            </a:r>
          </a:p>
          <a:p>
            <a:pPr marL="598599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through ML can lead to timely treatment and increased survival rates.</a:t>
            </a:r>
          </a:p>
          <a:p>
            <a:pPr marL="598599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has the potential to save more lives by overcoming the challenges posed by pancreatic cancer.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744ACA1-4A7F-9D32-B374-9858D7497F1D}"/>
              </a:ext>
            </a:extLst>
          </p:cNvPr>
          <p:cNvSpPr/>
          <p:nvPr/>
        </p:nvSpPr>
        <p:spPr>
          <a:xfrm flipV="1">
            <a:off x="1272209" y="122720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967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673E-F14E-A74D-A667-9B69861CBEA1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DF5E2-7D27-B624-0A11-7927DCBC5419}"/>
              </a:ext>
            </a:extLst>
          </p:cNvPr>
          <p:cNvSpPr txBox="1"/>
          <p:nvPr/>
        </p:nvSpPr>
        <p:spPr>
          <a:xfrm>
            <a:off x="1815617" y="1940091"/>
            <a:ext cx="8613774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early detection due to the deep-seated location of the pancreas.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tumours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not visible or palpable during regular physical exams.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noticeable symptoms until cancer has advanced or spread.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risk for individuals with a family history of pancreatic cancer.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crucial for improving treatment effectiveness.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9C5EECA-6D4C-534B-90C0-E563D42872DA}"/>
              </a:ext>
            </a:extLst>
          </p:cNvPr>
          <p:cNvSpPr/>
          <p:nvPr/>
        </p:nvSpPr>
        <p:spPr>
          <a:xfrm flipV="1">
            <a:off x="1272209" y="1280208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7447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304E-EB09-7ADF-0BEB-79D3BD02249F}"/>
              </a:ext>
            </a:extLst>
          </p:cNvPr>
          <p:cNvSpPr txBox="1">
            <a:spLocks/>
          </p:cNvSpPr>
          <p:nvPr/>
        </p:nvSpPr>
        <p:spPr>
          <a:xfrm>
            <a:off x="3845459" y="645935"/>
            <a:ext cx="4501080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C31EA-3EEC-747D-5769-1CD2EA8B7515}"/>
              </a:ext>
            </a:extLst>
          </p:cNvPr>
          <p:cNvSpPr txBox="1"/>
          <p:nvPr/>
        </p:nvSpPr>
        <p:spPr>
          <a:xfrm>
            <a:off x="1908312" y="3817274"/>
            <a:ext cx="84945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i="1" spc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</a:t>
            </a:r>
            <a:endParaRPr lang="en-US" sz="2000" b="1" i="1" spc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just"/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accurate, early detection system that minimizes false positives/negatives. The model should be robust, interpretable, scalable, and integrated into clinical practice to improve patient outcomes by identifying cases early.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01982-E373-6D1C-7607-9205443BB783}"/>
              </a:ext>
            </a:extLst>
          </p:cNvPr>
          <p:cNvSpPr txBox="1"/>
          <p:nvPr/>
        </p:nvSpPr>
        <p:spPr>
          <a:xfrm>
            <a:off x="1908312" y="1814008"/>
            <a:ext cx="84945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spc="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Aim</a:t>
            </a:r>
            <a:endParaRPr lang="en-US" sz="4000" b="1" i="1" spc="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develop a system that accurately identifies the presence or absence of pancreatic cancer, enabling early detection, improving treatment outcomes, and ultimately saving lives.</a:t>
            </a: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6CDD594-874C-A4A9-E185-C445426514D0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137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872D-0B8C-9210-E7E8-F45451EC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3D54-927C-C41D-383D-A4A10B330555}"/>
              </a:ext>
            </a:extLst>
          </p:cNvPr>
          <p:cNvSpPr txBox="1">
            <a:spLocks/>
          </p:cNvSpPr>
          <p:nvPr/>
        </p:nvSpPr>
        <p:spPr>
          <a:xfrm>
            <a:off x="4016719" y="190615"/>
            <a:ext cx="415856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2512AA-9381-15E7-DCAD-6686DA005FD7}"/>
              </a:ext>
            </a:extLst>
          </p:cNvPr>
          <p:cNvSpPr/>
          <p:nvPr/>
        </p:nvSpPr>
        <p:spPr>
          <a:xfrm>
            <a:off x="762000" y="830461"/>
            <a:ext cx="10914185" cy="69165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D974B7-3CC7-2498-2F15-8E6071F66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64431"/>
              </p:ext>
            </p:extLst>
          </p:nvPr>
        </p:nvGraphicFramePr>
        <p:xfrm>
          <a:off x="762000" y="1056641"/>
          <a:ext cx="10914183" cy="507556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28545">
                  <a:extLst>
                    <a:ext uri="{9D8B030D-6E8A-4147-A177-3AD203B41FA5}">
                      <a16:colId xmlns:a16="http://schemas.microsoft.com/office/drawing/2014/main" val="3297339661"/>
                    </a:ext>
                  </a:extLst>
                </a:gridCol>
                <a:gridCol w="2728546">
                  <a:extLst>
                    <a:ext uri="{9D8B030D-6E8A-4147-A177-3AD203B41FA5}">
                      <a16:colId xmlns:a16="http://schemas.microsoft.com/office/drawing/2014/main" val="431976462"/>
                    </a:ext>
                  </a:extLst>
                </a:gridCol>
                <a:gridCol w="2728546">
                  <a:extLst>
                    <a:ext uri="{9D8B030D-6E8A-4147-A177-3AD203B41FA5}">
                      <a16:colId xmlns:a16="http://schemas.microsoft.com/office/drawing/2014/main" val="1133701984"/>
                    </a:ext>
                  </a:extLst>
                </a:gridCol>
                <a:gridCol w="2728546">
                  <a:extLst>
                    <a:ext uri="{9D8B030D-6E8A-4147-A177-3AD203B41FA5}">
                      <a16:colId xmlns:a16="http://schemas.microsoft.com/office/drawing/2014/main" val="1377113819"/>
                    </a:ext>
                  </a:extLst>
                </a:gridCol>
              </a:tblGrid>
              <a:tr h="340435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Insights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Methods</a:t>
                      </a: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Used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095970"/>
                  </a:ext>
                </a:extLst>
              </a:tr>
              <a:tr h="1578378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 combination of urinary biomarker panel and </a:t>
                      </a:r>
                      <a:r>
                        <a:rPr lang="en-US" sz="1600" kern="1200" spc="-5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PancRISK</a:t>
                      </a:r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score for earlier detection of pancreatic cancer: A case–control study</a:t>
                      </a:r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[2]</a:t>
                      </a:r>
                      <a:endParaRPr lang="en-IN" sz="1600" kern="1200" spc="-5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presents a urinary biomarker panel to detect pancreatic cancer earlier, along with a </a:t>
                      </a:r>
                      <a:r>
                        <a:rPr lang="en-US" sz="1600" kern="1200" spc="-5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PancRISK</a:t>
                      </a:r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score to stratify patients at risk.</a:t>
                      </a:r>
                      <a:endParaRPr lang="en-IN" sz="1600" kern="1200" spc="-5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analysis was performed according to a prespecified plan.</a:t>
                      </a:r>
                    </a:p>
                    <a:p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 analyses were performed using R version 3.5.1.</a:t>
                      </a:r>
                    </a:p>
                    <a:p>
                      <a:endParaRPr lang="en-IN" sz="1600" kern="1200" spc="-5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urinary biomarker panel detects early-stage pancreatic cancer with 85% accuracy.</a:t>
                      </a:r>
                      <a:endParaRPr lang="en-IN" sz="1600" kern="1200" spc="-5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EC7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53256"/>
                  </a:ext>
                </a:extLst>
              </a:tr>
              <a:tr h="1825967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Early diagnosis of pancreatic cancer by machine learning methods using urine biomarker combinations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sz="1600" b="0" i="0" kern="1200" spc="-5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[1]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E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 the paper, ensemble learning algorithms like </a:t>
                      </a:r>
                      <a:r>
                        <a:rPr lang="en-US" sz="1600" kern="1200" spc="-5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AdaBoost, and GBC were found to be more effective in detecting pancreatic cancer.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EE6DE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classifiers: </a:t>
                      </a:r>
                      <a:r>
                        <a:rPr lang="en-US" sz="1600" kern="1200" spc="-5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AdaBoost, GBC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learning methods were used for classification.</a:t>
                      </a:r>
                    </a:p>
                  </a:txBody>
                  <a:tcPr>
                    <a:solidFill>
                      <a:srgbClr val="FEE6DE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classifiers were used to detect pancreatic cancer.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learning models were more successful in classifying healthy controls and patients with PDAC.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EE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40718"/>
                  </a:ext>
                </a:extLst>
              </a:tr>
              <a:tr h="1330789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PAD: A Pancreatic Cancer Detection based on Extracted Medical Data through Ensemble Methods in Machine Learning</a:t>
                      </a:r>
                      <a:r>
                        <a:rPr lang="en-IN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discusses the use of ensemble approaches in machine learning to analyze pancreatic tumors for early detection of pancreatic cancer.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approaches in machine learning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Naive Bayes and Random Forest algorithms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Classification accuracy: 88.6%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Error rate: 11.4%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6047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41BE82-DC77-A535-8EBE-DE3995AA7908}"/>
              </a:ext>
            </a:extLst>
          </p:cNvPr>
          <p:cNvSpPr txBox="1"/>
          <p:nvPr/>
        </p:nvSpPr>
        <p:spPr>
          <a:xfrm>
            <a:off x="4283229" y="6201377"/>
            <a:ext cx="387172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Papers for 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817072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872D-0B8C-9210-E7E8-F45451EC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3D54-927C-C41D-383D-A4A10B330555}"/>
              </a:ext>
            </a:extLst>
          </p:cNvPr>
          <p:cNvSpPr txBox="1">
            <a:spLocks/>
          </p:cNvSpPr>
          <p:nvPr/>
        </p:nvSpPr>
        <p:spPr>
          <a:xfrm>
            <a:off x="4016719" y="122108"/>
            <a:ext cx="415856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2512AA-9381-15E7-DCAD-6686DA005FD7}"/>
              </a:ext>
            </a:extLst>
          </p:cNvPr>
          <p:cNvSpPr/>
          <p:nvPr/>
        </p:nvSpPr>
        <p:spPr>
          <a:xfrm>
            <a:off x="761999" y="759412"/>
            <a:ext cx="10914185" cy="69165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D974B7-3CC7-2498-2F15-8E6071F66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45987"/>
              </p:ext>
            </p:extLst>
          </p:nvPr>
        </p:nvGraphicFramePr>
        <p:xfrm>
          <a:off x="761999" y="1045879"/>
          <a:ext cx="10914183" cy="50897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28545">
                  <a:extLst>
                    <a:ext uri="{9D8B030D-6E8A-4147-A177-3AD203B41FA5}">
                      <a16:colId xmlns:a16="http://schemas.microsoft.com/office/drawing/2014/main" val="3297339661"/>
                    </a:ext>
                  </a:extLst>
                </a:gridCol>
                <a:gridCol w="2728546">
                  <a:extLst>
                    <a:ext uri="{9D8B030D-6E8A-4147-A177-3AD203B41FA5}">
                      <a16:colId xmlns:a16="http://schemas.microsoft.com/office/drawing/2014/main" val="431976462"/>
                    </a:ext>
                  </a:extLst>
                </a:gridCol>
                <a:gridCol w="2728546">
                  <a:extLst>
                    <a:ext uri="{9D8B030D-6E8A-4147-A177-3AD203B41FA5}">
                      <a16:colId xmlns:a16="http://schemas.microsoft.com/office/drawing/2014/main" val="1133701984"/>
                    </a:ext>
                  </a:extLst>
                </a:gridCol>
                <a:gridCol w="2728546">
                  <a:extLst>
                    <a:ext uri="{9D8B030D-6E8A-4147-A177-3AD203B41FA5}">
                      <a16:colId xmlns:a16="http://schemas.microsoft.com/office/drawing/2014/main" val="1377113819"/>
                    </a:ext>
                  </a:extLst>
                </a:gridCol>
              </a:tblGrid>
              <a:tr h="393579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Insights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Methods</a:t>
                      </a: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Used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1600" kern="1200" spc="-5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F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095970"/>
                  </a:ext>
                </a:extLst>
              </a:tr>
              <a:tr h="1343322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Comparing Decision Tree and Logistic Regression for Pancreatic Cancer Classification</a:t>
                      </a: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[6]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compares Decision Tree and Logistic Regression for pancreatic cancer classification, but not for detection.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Decision Tree: 100% accuracy.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Logistic Regression: 92.68% accuracy.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EC7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819926"/>
                  </a:ext>
                </a:extLst>
              </a:tr>
              <a:tr h="1343322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Pancreatic Cancer Prediction through Convolutional Neural Networks</a:t>
                      </a: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E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discusses the use of deep learning methods, including convolutional neural networks, for the detection of pancreatic cancer.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EE6DE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learning methods using convolution neural networks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Other machine learning algorithms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EE6DE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explores deep learning for pancreatic cancer prediction to develop a more accurate and affordable identification method.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EE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53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Construction of a convolutional neural network classifier developed by computed tomography images for pancreatic cancer diagnosis.</a:t>
                      </a:r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[3]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discusses the construction of a convolutional neural network (CNN) classifier for pancreatic cancer diagnosis using computed tomography (CT) images.</a:t>
                      </a:r>
                      <a:endParaRPr lang="en-IN" sz="1600" kern="1200" spc="-5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Construction of a convolutional neural network (CNN) classifier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Evaluation of the approach using 10-fold cross validation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overall diagnostic accuracy of the binary classifier was 95.47% on plain scans.</a:t>
                      </a:r>
                    </a:p>
                    <a:p>
                      <a:r>
                        <a:rPr lang="en-US" sz="1600" kern="1200" spc="-5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sensitivity for detecting cancers in the head was highest in the arterial phase.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706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E23CE8-F78A-FE43-DC78-D00E578B4B6E}"/>
              </a:ext>
            </a:extLst>
          </p:cNvPr>
          <p:cNvSpPr txBox="1"/>
          <p:nvPr/>
        </p:nvSpPr>
        <p:spPr>
          <a:xfrm>
            <a:off x="3172228" y="6219639"/>
            <a:ext cx="609372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Papers for 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337399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BE34-3D02-056B-C580-A08D1C7054EE}"/>
              </a:ext>
            </a:extLst>
          </p:cNvPr>
          <p:cNvSpPr txBox="1">
            <a:spLocks/>
          </p:cNvSpPr>
          <p:nvPr/>
        </p:nvSpPr>
        <p:spPr>
          <a:xfrm>
            <a:off x="3818954" y="467249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BA283-7A1E-C534-76B4-83D1406F82DB}"/>
              </a:ext>
            </a:extLst>
          </p:cNvPr>
          <p:cNvSpPr txBox="1"/>
          <p:nvPr/>
        </p:nvSpPr>
        <p:spPr>
          <a:xfrm>
            <a:off x="1742579" y="1192457"/>
            <a:ext cx="816865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generic dataset is used for the proposed system, taken from the Kaggle repository. [5]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D1A3E-09B5-5F39-2D4B-C6AE77009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09" y="1611801"/>
            <a:ext cx="9700591" cy="4380001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B99A7A58-74E7-3541-FE37-43125EEB7473}"/>
              </a:ext>
            </a:extLst>
          </p:cNvPr>
          <p:cNvSpPr/>
          <p:nvPr/>
        </p:nvSpPr>
        <p:spPr>
          <a:xfrm flipV="1">
            <a:off x="1272209" y="946261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6CEFD-F569-3CA4-A851-00951BF161E6}"/>
              </a:ext>
            </a:extLst>
          </p:cNvPr>
          <p:cNvSpPr txBox="1"/>
          <p:nvPr/>
        </p:nvSpPr>
        <p:spPr>
          <a:xfrm>
            <a:off x="5177104" y="6063500"/>
            <a:ext cx="189080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Dataset</a:t>
            </a:r>
          </a:p>
        </p:txBody>
      </p:sp>
    </p:spTree>
    <p:extLst>
      <p:ext uri="{BB962C8B-B14F-4D97-AF65-F5344CB8AC3E}">
        <p14:creationId xmlns:p14="http://schemas.microsoft.com/office/powerpoint/2010/main" val="241644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6268-2D9F-340F-F229-04ABF7D6D18A}"/>
              </a:ext>
            </a:extLst>
          </p:cNvPr>
          <p:cNvSpPr txBox="1">
            <a:spLocks/>
          </p:cNvSpPr>
          <p:nvPr/>
        </p:nvSpPr>
        <p:spPr>
          <a:xfrm>
            <a:off x="3953807" y="620158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B88DD3-0555-BE8C-B939-C21ACCDC87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36" b="10282"/>
          <a:stretch/>
        </p:blipFill>
        <p:spPr>
          <a:xfrm>
            <a:off x="1665028" y="1683206"/>
            <a:ext cx="9108692" cy="405883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FD74EE96-B30F-EE71-235A-876E86934345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34E92-A6A7-4260-BA9E-43878E665E05}"/>
              </a:ext>
            </a:extLst>
          </p:cNvPr>
          <p:cNvSpPr txBox="1"/>
          <p:nvPr/>
        </p:nvSpPr>
        <p:spPr>
          <a:xfrm>
            <a:off x="4604096" y="6073520"/>
            <a:ext cx="323055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A strategic Roadmap</a:t>
            </a:r>
          </a:p>
        </p:txBody>
      </p:sp>
    </p:spTree>
    <p:extLst>
      <p:ext uri="{BB962C8B-B14F-4D97-AF65-F5344CB8AC3E}">
        <p14:creationId xmlns:p14="http://schemas.microsoft.com/office/powerpoint/2010/main" val="149340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7C538E-48BB-DA2E-A203-8064E79E9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157" y="1772721"/>
            <a:ext cx="3984710" cy="3890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4C9F12-2659-F7AF-323F-216AD7046920}"/>
              </a:ext>
            </a:extLst>
          </p:cNvPr>
          <p:cNvSpPr txBox="1"/>
          <p:nvPr/>
        </p:nvSpPr>
        <p:spPr>
          <a:xfrm>
            <a:off x="1272209" y="1772720"/>
            <a:ext cx="55791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Ensemble method constructing multiple decision trees and aggregating their predictions.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Extension of Random Forest with random subset training and splits to reduce overfitting.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C977D12-D5D0-A1E7-CF07-1C0F57AE6F8E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F23EB-5F71-A54B-AFAB-216E5CF2317C}"/>
              </a:ext>
            </a:extLst>
          </p:cNvPr>
          <p:cNvSpPr txBox="1"/>
          <p:nvPr/>
        </p:nvSpPr>
        <p:spPr>
          <a:xfrm>
            <a:off x="7969709" y="5770438"/>
            <a:ext cx="323055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</a:t>
            </a:r>
            <a:r>
              <a:rPr lang="en-IN" sz="1600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ExtraTreesClassifier</a:t>
            </a: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7C8D5-2477-5C97-88AC-D0850322F152}"/>
              </a:ext>
            </a:extLst>
          </p:cNvPr>
          <p:cNvSpPr txBox="1"/>
          <p:nvPr/>
        </p:nvSpPr>
        <p:spPr>
          <a:xfrm>
            <a:off x="8186534" y="2078922"/>
            <a:ext cx="401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C064B-EA71-8DA9-6878-CC9BE72E4F8F}"/>
              </a:ext>
            </a:extLst>
          </p:cNvPr>
          <p:cNvSpPr txBox="1"/>
          <p:nvPr/>
        </p:nvSpPr>
        <p:spPr>
          <a:xfrm>
            <a:off x="9407571" y="2086997"/>
            <a:ext cx="439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66A221-1128-6B8B-554A-AD667782DD29}"/>
              </a:ext>
            </a:extLst>
          </p:cNvPr>
          <p:cNvSpPr txBox="1"/>
          <p:nvPr/>
        </p:nvSpPr>
        <p:spPr>
          <a:xfrm>
            <a:off x="8195499" y="3358119"/>
            <a:ext cx="502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A13BBE-94A2-A9CD-A5B9-B724E44E5DD5}"/>
              </a:ext>
            </a:extLst>
          </p:cNvPr>
          <p:cNvSpPr txBox="1"/>
          <p:nvPr/>
        </p:nvSpPr>
        <p:spPr>
          <a:xfrm>
            <a:off x="9326890" y="3327982"/>
            <a:ext cx="600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7503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28D05-41BC-4C01-32DB-AB35F55BA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148" y="1765996"/>
            <a:ext cx="3922643" cy="390540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A639EB83-C320-B374-8C43-4C77A4A6FCFB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98C17-6688-FEB1-4A06-845115ED2A10}"/>
              </a:ext>
            </a:extLst>
          </p:cNvPr>
          <p:cNvSpPr txBox="1"/>
          <p:nvPr/>
        </p:nvSpPr>
        <p:spPr>
          <a:xfrm>
            <a:off x="1364974" y="1765996"/>
            <a:ext cx="54068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BaggingClassifier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Bagging: Technique training multiple models independently and combining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AdaBoost: Boosting algorithm sequentially combining weak learners to focus on difficult examples.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DA72C-5804-CD7B-F340-CEE3E41C9655}"/>
              </a:ext>
            </a:extLst>
          </p:cNvPr>
          <p:cNvSpPr txBox="1"/>
          <p:nvPr/>
        </p:nvSpPr>
        <p:spPr>
          <a:xfrm>
            <a:off x="8168604" y="5771738"/>
            <a:ext cx="2917209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</a:t>
            </a:r>
            <a:r>
              <a:rPr lang="en-IN" sz="1600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BaggingClassifier</a:t>
            </a: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06156-39BD-7266-5FC1-0C0CA0ACF425}"/>
              </a:ext>
            </a:extLst>
          </p:cNvPr>
          <p:cNvSpPr txBox="1"/>
          <p:nvPr/>
        </p:nvSpPr>
        <p:spPr>
          <a:xfrm>
            <a:off x="8186534" y="2078922"/>
            <a:ext cx="401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31162F-D625-6572-9596-8ADF66F82448}"/>
              </a:ext>
            </a:extLst>
          </p:cNvPr>
          <p:cNvSpPr txBox="1"/>
          <p:nvPr/>
        </p:nvSpPr>
        <p:spPr>
          <a:xfrm>
            <a:off x="9407571" y="2086997"/>
            <a:ext cx="439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8ED0E-8901-9C78-25CC-DFAB3AD75CA7}"/>
              </a:ext>
            </a:extLst>
          </p:cNvPr>
          <p:cNvSpPr txBox="1"/>
          <p:nvPr/>
        </p:nvSpPr>
        <p:spPr>
          <a:xfrm>
            <a:off x="8195499" y="3358119"/>
            <a:ext cx="502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9FFC8-87FD-D1FF-2963-D317267098E7}"/>
              </a:ext>
            </a:extLst>
          </p:cNvPr>
          <p:cNvSpPr txBox="1"/>
          <p:nvPr/>
        </p:nvSpPr>
        <p:spPr>
          <a:xfrm>
            <a:off x="9326890" y="3327982"/>
            <a:ext cx="439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587800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E4D11-EF03-18AC-0263-F8FBA0A75A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8"/>
          <a:stretch/>
        </p:blipFill>
        <p:spPr>
          <a:xfrm>
            <a:off x="7074993" y="1728200"/>
            <a:ext cx="3897807" cy="3937519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42EF5072-96F2-C9B4-461A-161717C9119F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F897FE-721C-DA11-CC50-7F704B6E3F10}"/>
              </a:ext>
            </a:extLst>
          </p:cNvPr>
          <p:cNvSpPr txBox="1"/>
          <p:nvPr/>
        </p:nvSpPr>
        <p:spPr>
          <a:xfrm>
            <a:off x="1411357" y="1728200"/>
            <a:ext cx="50954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CalibratedClassifierCV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LinearSVC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LinearSVC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Linear classifier using Support Vector Machine techniques to find the best hyperplane.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CalibratedClassifierCV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Method to calibrate predicted probabilities for more reliable decision-making.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70E6F-1958-1C8D-654B-AB565A1C1B35}"/>
              </a:ext>
            </a:extLst>
          </p:cNvPr>
          <p:cNvSpPr txBox="1"/>
          <p:nvPr/>
        </p:nvSpPr>
        <p:spPr>
          <a:xfrm>
            <a:off x="7826182" y="5728265"/>
            <a:ext cx="345995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</a:t>
            </a:r>
            <a:r>
              <a:rPr lang="en-IN" sz="1600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CaliberatedClassifierCV</a:t>
            </a: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84602-5BA6-8608-682D-3C92D1AC657B}"/>
              </a:ext>
            </a:extLst>
          </p:cNvPr>
          <p:cNvSpPr txBox="1"/>
          <p:nvPr/>
        </p:nvSpPr>
        <p:spPr>
          <a:xfrm>
            <a:off x="8186534" y="2078922"/>
            <a:ext cx="401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4EF8E-90FE-7F59-B3DF-8CF56D63C85E}"/>
              </a:ext>
            </a:extLst>
          </p:cNvPr>
          <p:cNvSpPr txBox="1"/>
          <p:nvPr/>
        </p:nvSpPr>
        <p:spPr>
          <a:xfrm>
            <a:off x="9380676" y="2095962"/>
            <a:ext cx="439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D77C76-A494-EE7E-D4FE-0A3635F5B238}"/>
              </a:ext>
            </a:extLst>
          </p:cNvPr>
          <p:cNvSpPr txBox="1"/>
          <p:nvPr/>
        </p:nvSpPr>
        <p:spPr>
          <a:xfrm>
            <a:off x="8195499" y="3358119"/>
            <a:ext cx="502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F2C62-CAAA-34FE-733C-67892F07B1DE}"/>
              </a:ext>
            </a:extLst>
          </p:cNvPr>
          <p:cNvSpPr txBox="1"/>
          <p:nvPr/>
        </p:nvSpPr>
        <p:spPr>
          <a:xfrm>
            <a:off x="9326890" y="3327982"/>
            <a:ext cx="600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1247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2EF5072-96F2-C9B4-461A-161717C9119F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972D7-1F73-0A3C-8754-6F31FDDF12DE}"/>
              </a:ext>
            </a:extLst>
          </p:cNvPr>
          <p:cNvSpPr txBox="1"/>
          <p:nvPr/>
        </p:nvSpPr>
        <p:spPr>
          <a:xfrm>
            <a:off x="1338470" y="1724192"/>
            <a:ext cx="56056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GaussianProcessClassifier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Linear model for binary classification using Logistic function.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GaussianProcessClassifier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Probabilistic classifier based on Gaussian processes, modelling input-output relationship with multivariate Gaussian distribution.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EFE1A-DE4E-BF52-7627-5B074FE8B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111" y="1724192"/>
            <a:ext cx="3975690" cy="38403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4D6B39-C86B-2FA8-45BC-82AE00D0032B}"/>
              </a:ext>
            </a:extLst>
          </p:cNvPr>
          <p:cNvSpPr txBox="1"/>
          <p:nvPr/>
        </p:nvSpPr>
        <p:spPr>
          <a:xfrm>
            <a:off x="7847074" y="5780044"/>
            <a:ext cx="372242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</a:t>
            </a:r>
            <a:r>
              <a:rPr lang="en-IN" sz="1600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GaussianProcessClassifier</a:t>
            </a: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E56FA-7B4A-DBC8-3C1F-B155A67225E4}"/>
              </a:ext>
            </a:extLst>
          </p:cNvPr>
          <p:cNvSpPr txBox="1"/>
          <p:nvPr/>
        </p:nvSpPr>
        <p:spPr>
          <a:xfrm>
            <a:off x="8186534" y="2078922"/>
            <a:ext cx="401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EDB01-48D1-CC6E-98AD-7AEA55725E63}"/>
              </a:ext>
            </a:extLst>
          </p:cNvPr>
          <p:cNvSpPr txBox="1"/>
          <p:nvPr/>
        </p:nvSpPr>
        <p:spPr>
          <a:xfrm>
            <a:off x="9341223" y="2078922"/>
            <a:ext cx="439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605FF-20B7-F97C-D8E0-A50EAAB9CAC0}"/>
              </a:ext>
            </a:extLst>
          </p:cNvPr>
          <p:cNvSpPr txBox="1"/>
          <p:nvPr/>
        </p:nvSpPr>
        <p:spPr>
          <a:xfrm>
            <a:off x="8186534" y="3288884"/>
            <a:ext cx="502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80D1D-170A-DFCD-1B0C-A2B89D2BE8CF}"/>
              </a:ext>
            </a:extLst>
          </p:cNvPr>
          <p:cNvSpPr txBox="1"/>
          <p:nvPr/>
        </p:nvSpPr>
        <p:spPr>
          <a:xfrm>
            <a:off x="9373480" y="3288884"/>
            <a:ext cx="600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49537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66AC035-963E-CFE6-A7AD-31FCE50AEBB0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D7486-F53C-90A4-0C0B-F9145A84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703" y="1694387"/>
            <a:ext cx="3694097" cy="36859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08F7B4-726C-C8D2-99AA-EEF8B77C36CF}"/>
              </a:ext>
            </a:extLst>
          </p:cNvPr>
          <p:cNvSpPr txBox="1"/>
          <p:nvPr/>
        </p:nvSpPr>
        <p:spPr>
          <a:xfrm>
            <a:off x="1290120" y="4147951"/>
            <a:ext cx="5685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Variant using histograms for faster training, suitable for large datasets.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35F91-E2D3-A851-08B7-6BF12A25311F}"/>
              </a:ext>
            </a:extLst>
          </p:cNvPr>
          <p:cNvSpPr txBox="1"/>
          <p:nvPr/>
        </p:nvSpPr>
        <p:spPr>
          <a:xfrm>
            <a:off x="1290120" y="16943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GradientBoostingClassifier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30AE8-AF1B-8F27-F4AD-D5B6DB79C280}"/>
              </a:ext>
            </a:extLst>
          </p:cNvPr>
          <p:cNvSpPr txBox="1"/>
          <p:nvPr/>
        </p:nvSpPr>
        <p:spPr>
          <a:xfrm>
            <a:off x="1290120" y="2644700"/>
            <a:ext cx="5685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Boosting: Ensemble technique using weak learners (typically decision trees) to optimize loss function in a stage-wise manner.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25AED-1697-9A57-12C0-C9424DBC51AC}"/>
              </a:ext>
            </a:extLst>
          </p:cNvPr>
          <p:cNvSpPr txBox="1"/>
          <p:nvPr/>
        </p:nvSpPr>
        <p:spPr>
          <a:xfrm>
            <a:off x="7633545" y="5564540"/>
            <a:ext cx="410456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</a:t>
            </a:r>
            <a:r>
              <a:rPr lang="en-IN" sz="1600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HistGradientBoostingClassifier</a:t>
            </a:r>
            <a:endParaRPr lang="en-US" sz="1600" i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034A6-C864-7F60-3C12-AD7B03979363}"/>
              </a:ext>
            </a:extLst>
          </p:cNvPr>
          <p:cNvSpPr txBox="1"/>
          <p:nvPr/>
        </p:nvSpPr>
        <p:spPr>
          <a:xfrm>
            <a:off x="8308964" y="1986777"/>
            <a:ext cx="401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6F752-2C64-7EBB-4EF6-59752FFF0AFB}"/>
              </a:ext>
            </a:extLst>
          </p:cNvPr>
          <p:cNvSpPr txBox="1"/>
          <p:nvPr/>
        </p:nvSpPr>
        <p:spPr>
          <a:xfrm>
            <a:off x="9466191" y="1987418"/>
            <a:ext cx="4392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20ACC-F329-DE7C-733F-926F5D4FA0DF}"/>
              </a:ext>
            </a:extLst>
          </p:cNvPr>
          <p:cNvSpPr txBox="1"/>
          <p:nvPr/>
        </p:nvSpPr>
        <p:spPr>
          <a:xfrm>
            <a:off x="8308964" y="3181132"/>
            <a:ext cx="502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269C0-DF47-8AED-420F-5FF967E74742}"/>
              </a:ext>
            </a:extLst>
          </p:cNvPr>
          <p:cNvSpPr txBox="1"/>
          <p:nvPr/>
        </p:nvSpPr>
        <p:spPr>
          <a:xfrm>
            <a:off x="9449318" y="3181131"/>
            <a:ext cx="600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171532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4017737" y="288121"/>
            <a:ext cx="4156523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4316B-2230-8129-E052-00E1A05AF1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3"/>
          <a:stretch/>
        </p:blipFill>
        <p:spPr>
          <a:xfrm>
            <a:off x="736979" y="2051085"/>
            <a:ext cx="4684028" cy="2534010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C6F91438-15E0-B8A2-87EF-8C4FF782B91E}"/>
              </a:ext>
            </a:extLst>
          </p:cNvPr>
          <p:cNvSpPr/>
          <p:nvPr/>
        </p:nvSpPr>
        <p:spPr>
          <a:xfrm flipV="1">
            <a:off x="791570" y="858308"/>
            <a:ext cx="10666821" cy="45719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E61E3B-2EF4-1EAE-E86F-23C35E161A28}"/>
              </a:ext>
            </a:extLst>
          </p:cNvPr>
          <p:cNvGrpSpPr/>
          <p:nvPr/>
        </p:nvGrpSpPr>
        <p:grpSpPr>
          <a:xfrm>
            <a:off x="5325942" y="1636255"/>
            <a:ext cx="6282529" cy="4177374"/>
            <a:chOff x="5188871" y="2442713"/>
            <a:chExt cx="6282529" cy="41773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BF3471-3364-ABEB-A46F-250DB9C0993D}"/>
                </a:ext>
              </a:extLst>
            </p:cNvPr>
            <p:cNvSpPr txBox="1"/>
            <p:nvPr/>
          </p:nvSpPr>
          <p:spPr>
            <a:xfrm rot="20883577">
              <a:off x="5188871" y="5907305"/>
              <a:ext cx="18582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 err="1"/>
                <a:t>HistGradientBoostingClassifier</a:t>
              </a:r>
              <a:endParaRPr lang="en-IN" sz="10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8F4FEC-B232-7A6F-A45F-44EF040DFB16}"/>
                </a:ext>
              </a:extLst>
            </p:cNvPr>
            <p:cNvSpPr txBox="1"/>
            <p:nvPr/>
          </p:nvSpPr>
          <p:spPr>
            <a:xfrm>
              <a:off x="8019022" y="6343088"/>
              <a:ext cx="9105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/>
                <a:t>Classifiers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F9F16A1-0959-3E5D-1B28-F8D7884E0F50}"/>
                </a:ext>
              </a:extLst>
            </p:cNvPr>
            <p:cNvGrpSpPr/>
            <p:nvPr/>
          </p:nvGrpSpPr>
          <p:grpSpPr>
            <a:xfrm>
              <a:off x="5343872" y="2442713"/>
              <a:ext cx="6127528" cy="3722174"/>
              <a:chOff x="5343872" y="2442713"/>
              <a:chExt cx="6127528" cy="372217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E87CFAF-3460-9974-A46A-3C7FFCF223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50000"/>
                        </a14:imgEffect>
                        <a14:imgEffect>
                          <a14:saturation sat="2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01" t="6305" r="2241" b="32757"/>
              <a:stretch/>
            </p:blipFill>
            <p:spPr>
              <a:xfrm>
                <a:off x="5620871" y="2813835"/>
                <a:ext cx="5701553" cy="2980104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F04084-4A0B-FA07-2CDE-32DD4E735E9F}"/>
                  </a:ext>
                </a:extLst>
              </p:cNvPr>
              <p:cNvSpPr txBox="1"/>
              <p:nvPr/>
            </p:nvSpPr>
            <p:spPr>
              <a:xfrm rot="20692349">
                <a:off x="6804467" y="5846204"/>
                <a:ext cx="12323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 err="1"/>
                  <a:t>ExtraTreesClassifier</a:t>
                </a:r>
                <a:endParaRPr lang="en-IN" sz="1000" b="1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67CC56-EC7D-589D-6C86-AD48DAC63D01}"/>
                  </a:ext>
                </a:extLst>
              </p:cNvPr>
              <p:cNvSpPr txBox="1"/>
              <p:nvPr/>
            </p:nvSpPr>
            <p:spPr>
              <a:xfrm rot="20692349">
                <a:off x="8882910" y="5898635"/>
                <a:ext cx="141680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 err="1"/>
                  <a:t>CaliberatedClassifierCV</a:t>
                </a:r>
                <a:endParaRPr lang="en-IN" sz="1000" b="1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586A2A-1A05-361C-8242-E69F6962C4A1}"/>
                  </a:ext>
                </a:extLst>
              </p:cNvPr>
              <p:cNvSpPr txBox="1"/>
              <p:nvPr/>
            </p:nvSpPr>
            <p:spPr>
              <a:xfrm rot="20692349">
                <a:off x="8085635" y="5808898"/>
                <a:ext cx="112212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 err="1"/>
                  <a:t>BaggingClassifier</a:t>
                </a:r>
                <a:endParaRPr lang="en-IN" sz="1000" b="1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469980-62CF-5BFA-4E87-824C253A5D21}"/>
                  </a:ext>
                </a:extLst>
              </p:cNvPr>
              <p:cNvSpPr txBox="1"/>
              <p:nvPr/>
            </p:nvSpPr>
            <p:spPr>
              <a:xfrm rot="20692349">
                <a:off x="9901084" y="5918666"/>
                <a:ext cx="157031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000" b="1" dirty="0" err="1"/>
                  <a:t>GaussianProcessClassifier</a:t>
                </a:r>
                <a:endParaRPr lang="en-IN" sz="1000" b="1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0FA239-8B54-D1DE-EC0E-281F696EFC6B}"/>
                  </a:ext>
                </a:extLst>
              </p:cNvPr>
              <p:cNvSpPr txBox="1"/>
              <p:nvPr/>
            </p:nvSpPr>
            <p:spPr>
              <a:xfrm rot="16200000">
                <a:off x="5076707" y="4362867"/>
                <a:ext cx="8113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/>
                  <a:t>Accuracy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61B4CD-E186-3778-5BC4-E85964AB5D65}"/>
                  </a:ext>
                </a:extLst>
              </p:cNvPr>
              <p:cNvSpPr txBox="1"/>
              <p:nvPr/>
            </p:nvSpPr>
            <p:spPr>
              <a:xfrm>
                <a:off x="7492275" y="2442713"/>
                <a:ext cx="23088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/>
                  <a:t>Accuracy of different Classifiers</a:t>
                </a: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2717BC5-0965-D662-6E38-ABB692FDEBE0}"/>
              </a:ext>
            </a:extLst>
          </p:cNvPr>
          <p:cNvSpPr txBox="1"/>
          <p:nvPr/>
        </p:nvSpPr>
        <p:spPr>
          <a:xfrm>
            <a:off x="915709" y="4702563"/>
            <a:ext cx="4379539" cy="31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8: 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All the classifiers and their calculations</a:t>
            </a:r>
            <a:endParaRPr lang="en-US" sz="1600" i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C5F9E5-F296-A1C6-3B3B-DBDEA777FE48}"/>
              </a:ext>
            </a:extLst>
          </p:cNvPr>
          <p:cNvSpPr txBox="1"/>
          <p:nvPr/>
        </p:nvSpPr>
        <p:spPr>
          <a:xfrm>
            <a:off x="6369818" y="5940253"/>
            <a:ext cx="4827895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Accuracy comparison graph</a:t>
            </a:r>
          </a:p>
        </p:txBody>
      </p:sp>
    </p:spTree>
    <p:extLst>
      <p:ext uri="{BB962C8B-B14F-4D97-AF65-F5344CB8AC3E}">
        <p14:creationId xmlns:p14="http://schemas.microsoft.com/office/powerpoint/2010/main" val="481562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4017735" y="321742"/>
            <a:ext cx="4156523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DEC56-5D48-86A9-61F0-FE7B8E0964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1" t="8765" r="3466"/>
          <a:stretch/>
        </p:blipFill>
        <p:spPr>
          <a:xfrm>
            <a:off x="1924877" y="1284574"/>
            <a:ext cx="8342246" cy="2744692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C7F48F9D-5115-0574-290C-C26F796AD990}"/>
              </a:ext>
            </a:extLst>
          </p:cNvPr>
          <p:cNvSpPr/>
          <p:nvPr/>
        </p:nvSpPr>
        <p:spPr>
          <a:xfrm flipV="1">
            <a:off x="1272209" y="90957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B19B5A-E603-EC09-6A2D-69D080334BEE}"/>
                  </a:ext>
                </a:extLst>
              </p:cNvPr>
              <p:cNvSpPr txBox="1"/>
              <p:nvPr/>
            </p:nvSpPr>
            <p:spPr>
              <a:xfrm>
                <a:off x="1358348" y="4819544"/>
                <a:ext cx="4303645" cy="579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</a:t>
                </a:r>
                <a14:m>
                  <m:oMath xmlns:m="http://schemas.openxmlformats.org/officeDocument/2006/math">
                    <m:r>
                      <a:rPr lang="en-IN" spc="-5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pc="-5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b="0" i="0" spc="-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spc="-5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Predictions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Correct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Predictions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​ </m:t>
                        </m:r>
                      </m:den>
                    </m:f>
                  </m:oMath>
                </a14:m>
                <a:endParaRPr lang="en-IN" spc="-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B19B5A-E603-EC09-6A2D-69D080334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348" y="4819544"/>
                <a:ext cx="4303645" cy="579774"/>
              </a:xfrm>
              <a:prstGeom prst="rect">
                <a:avLst/>
              </a:prstGeom>
              <a:blipFill>
                <a:blip r:embed="rId3"/>
                <a:stretch>
                  <a:fillRect l="-12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224C02-29B5-CEB0-3FBC-DA989BD85336}"/>
                  </a:ext>
                </a:extLst>
              </p:cNvPr>
              <p:cNvSpPr txBox="1"/>
              <p:nvPr/>
            </p:nvSpPr>
            <p:spPr>
              <a:xfrm>
                <a:off x="1358347" y="5714346"/>
                <a:ext cx="4442792" cy="582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</a:t>
                </a:r>
                <a14:m>
                  <m:oMath xmlns:m="http://schemas.openxmlformats.org/officeDocument/2006/math">
                    <m:r>
                      <a:rPr lang="en-IN" spc="-5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pc="-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b="0" i="0" spc="-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spc="-5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Positives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Positives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False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Positives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IN" spc="-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224C02-29B5-CEB0-3FBC-DA989BD85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347" y="5714346"/>
                <a:ext cx="4442792" cy="582788"/>
              </a:xfrm>
              <a:prstGeom prst="rect">
                <a:avLst/>
              </a:prstGeom>
              <a:blipFill>
                <a:blip r:embed="rId4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853A6F-9574-638C-C21E-7C947EB2BD6E}"/>
                  </a:ext>
                </a:extLst>
              </p:cNvPr>
              <p:cNvSpPr txBox="1"/>
              <p:nvPr/>
            </p:nvSpPr>
            <p:spPr>
              <a:xfrm>
                <a:off x="6530008" y="5734865"/>
                <a:ext cx="4303645" cy="541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 Score</a:t>
                </a:r>
                <a14:m>
                  <m:oMath xmlns:m="http://schemas.openxmlformats.org/officeDocument/2006/math">
                    <m:r>
                      <a:rPr lang="en-IN" spc="-5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pc="-5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pc="-5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pc="-5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pc="-5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IN" spc="-5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spc="-5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Precision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Precision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Recall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​ </m:t>
                        </m:r>
                      </m:den>
                    </m:f>
                  </m:oMath>
                </a14:m>
                <a:endParaRPr lang="en-IN" spc="-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853A6F-9574-638C-C21E-7C947EB2B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008" y="5734865"/>
                <a:ext cx="4303645" cy="541751"/>
              </a:xfrm>
              <a:prstGeom prst="rect">
                <a:avLst/>
              </a:prstGeom>
              <a:blipFill>
                <a:blip r:embed="rId5"/>
                <a:stretch>
                  <a:fillRect l="-1133" b="-5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94F4D7-ABF9-AB76-135A-004983FF8B4A}"/>
                  </a:ext>
                </a:extLst>
              </p:cNvPr>
              <p:cNvSpPr txBox="1"/>
              <p:nvPr/>
            </p:nvSpPr>
            <p:spPr>
              <a:xfrm>
                <a:off x="6530008" y="4819544"/>
                <a:ext cx="4442792" cy="5931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</a:t>
                </a:r>
                <a14:m>
                  <m:oMath xmlns:m="http://schemas.openxmlformats.org/officeDocument/2006/math">
                    <m:r>
                      <a:rPr lang="en-IN" spc="-5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pc="-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b="0" i="0" spc="-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spc="-5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Positives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Positives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False</m:t>
                        </m:r>
                        <m:r>
                          <m:rPr>
                            <m:nor/>
                          </m:rPr>
                          <a:rPr lang="en-IN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b="0" i="0" spc="-5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Negatives</m:t>
                        </m:r>
                        <m:r>
                          <m:rPr>
                            <m:nor/>
                          </m:rPr>
                          <a:rPr lang="en-US" spc="-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IN" spc="-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94F4D7-ABF9-AB76-135A-004983FF8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008" y="4819544"/>
                <a:ext cx="4442792" cy="593111"/>
              </a:xfrm>
              <a:prstGeom prst="rect">
                <a:avLst/>
              </a:prstGeom>
              <a:blipFill>
                <a:blip r:embed="rId6"/>
                <a:stretch>
                  <a:fillRect l="-10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2725B96-24CB-2C37-A605-5072F13F8D22}"/>
              </a:ext>
            </a:extLst>
          </p:cNvPr>
          <p:cNvSpPr txBox="1"/>
          <p:nvPr/>
        </p:nvSpPr>
        <p:spPr>
          <a:xfrm>
            <a:off x="3049134" y="4029266"/>
            <a:ext cx="6093724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2120900" algn="l"/>
              </a:tabLst>
            </a:pP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10: Best Classifier</a:t>
            </a: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69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359-10A5-2DD0-D754-A66092D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2FF65-CF8B-983C-8BEB-2C5507EDA032}"/>
              </a:ext>
            </a:extLst>
          </p:cNvPr>
          <p:cNvSpPr txBox="1">
            <a:spLocks/>
          </p:cNvSpPr>
          <p:nvPr/>
        </p:nvSpPr>
        <p:spPr>
          <a:xfrm>
            <a:off x="4017735" y="321742"/>
            <a:ext cx="4156523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7F48F9D-5115-0574-290C-C26F796AD990}"/>
              </a:ext>
            </a:extLst>
          </p:cNvPr>
          <p:cNvSpPr/>
          <p:nvPr/>
        </p:nvSpPr>
        <p:spPr>
          <a:xfrm flipV="1">
            <a:off x="1272209" y="90957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9FF8C-396C-FB95-6441-CE04BD40EF78}"/>
              </a:ext>
            </a:extLst>
          </p:cNvPr>
          <p:cNvSpPr txBox="1"/>
          <p:nvPr/>
        </p:nvSpPr>
        <p:spPr>
          <a:xfrm>
            <a:off x="1272209" y="1359151"/>
            <a:ext cx="970059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HistGradientBoostingClassifier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highest accuracy among the classifiers evaluated. With an accuracy of 0.8872, it performs well in correctly predicting the diagnosis of pancreatic cancer cases based on the dataset features.</a:t>
            </a:r>
          </a:p>
          <a:p>
            <a:pPr algn="just"/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precision score of 0.8877 indicates that the classifier has a high proportion of correct positive predictions among all predicted positive instances.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recall score of 0.8872 suggests that the classifier effectively captures a high proportion of actual positive instances in the dataset.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With an F1-score of 0.8869, the classifier achieves a balanced performance between precision and recall, considering both false positives and false negatives.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HistGradientBoostingClassifier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robust performance across multiple evaluation metrics, making it a reliable choice for diagnosing pancreatic cancer based on the provided dataset.</a:t>
            </a:r>
          </a:p>
        </p:txBody>
      </p:sp>
    </p:spTree>
    <p:extLst>
      <p:ext uri="{BB962C8B-B14F-4D97-AF65-F5344CB8AC3E}">
        <p14:creationId xmlns:p14="http://schemas.microsoft.com/office/powerpoint/2010/main" val="2583484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4BB9-9215-43FC-52FE-362EB7A3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C822-E275-7DEA-B7AB-BE6F1FF23DC2}"/>
              </a:ext>
            </a:extLst>
          </p:cNvPr>
          <p:cNvSpPr txBox="1">
            <a:spLocks/>
          </p:cNvSpPr>
          <p:nvPr/>
        </p:nvSpPr>
        <p:spPr>
          <a:xfrm>
            <a:off x="3953807" y="659914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E90D4-48BF-E344-6B4A-CE470032EF6D}"/>
              </a:ext>
            </a:extLst>
          </p:cNvPr>
          <p:cNvSpPr txBox="1"/>
          <p:nvPr/>
        </p:nvSpPr>
        <p:spPr>
          <a:xfrm>
            <a:off x="1950052" y="1953015"/>
            <a:ext cx="80234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HistGradientBoostingClassifier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top classifier with the highest accuracy and balanced precision and recall.</a:t>
            </a:r>
          </a:p>
          <a:p>
            <a:pPr algn="l"/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and selected features accurately predict pancreatic cancer diagnosis using ML algorithms.</a:t>
            </a:r>
          </a:p>
          <a:p>
            <a:pPr algn="l"/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Refining the models could improve cancer diagnosis and treatment insights..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9AFE535-DC1F-E464-E589-7A3CABDEC37C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1091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4BB9-9215-43FC-52FE-362EB7A3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C822-E275-7DEA-B7AB-BE6F1FF23DC2}"/>
              </a:ext>
            </a:extLst>
          </p:cNvPr>
          <p:cNvSpPr txBox="1">
            <a:spLocks/>
          </p:cNvSpPr>
          <p:nvPr/>
        </p:nvSpPr>
        <p:spPr>
          <a:xfrm>
            <a:off x="4088048" y="705632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9AFE535-DC1F-E464-E589-7A3CABDEC37C}"/>
              </a:ext>
            </a:extLst>
          </p:cNvPr>
          <p:cNvSpPr/>
          <p:nvPr/>
        </p:nvSpPr>
        <p:spPr>
          <a:xfrm flipV="1">
            <a:off x="1272209" y="1293460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74719-1EDB-D326-D00D-EBF7C695964A}"/>
              </a:ext>
            </a:extLst>
          </p:cNvPr>
          <p:cNvSpPr txBox="1"/>
          <p:nvPr/>
        </p:nvSpPr>
        <p:spPr>
          <a:xfrm>
            <a:off x="1959646" y="1881288"/>
            <a:ext cx="8325716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feature selection for better extraction of pertinent information in analysis and prediction.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advanced machine-learning techniques for accurate predictions.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diverse data sources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insights and decision-making across various areas</a:t>
            </a:r>
            <a:r>
              <a:rPr lang="en-IN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1113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4BB9-9215-43FC-52FE-362EB7A3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C822-E275-7DEA-B7AB-BE6F1FF23DC2}"/>
              </a:ext>
            </a:extLst>
          </p:cNvPr>
          <p:cNvSpPr txBox="1">
            <a:spLocks/>
          </p:cNvSpPr>
          <p:nvPr/>
        </p:nvSpPr>
        <p:spPr>
          <a:xfrm>
            <a:off x="4088049" y="53078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6F7B15D-8E13-D182-5BD5-DFEFB40787D5}"/>
              </a:ext>
            </a:extLst>
          </p:cNvPr>
          <p:cNvSpPr/>
          <p:nvPr/>
        </p:nvSpPr>
        <p:spPr>
          <a:xfrm flipV="1">
            <a:off x="1272208" y="640906"/>
            <a:ext cx="9700591" cy="58262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A46BE-5B57-B5C7-9FA6-A04D7253E3B3}"/>
              </a:ext>
            </a:extLst>
          </p:cNvPr>
          <p:cNvSpPr txBox="1"/>
          <p:nvPr/>
        </p:nvSpPr>
        <p:spPr>
          <a:xfrm>
            <a:off x="1272208" y="891543"/>
            <a:ext cx="1001449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/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ACER, İREM, et al. “Early Diagnosis of Pancreatic Cancer by Machine Learning Methods Using Urine Biomarker Combinations.”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Turkish Journal of Electrical Engineering and Computer Sciences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31, no. 1, Jan. 2023, pp. 112–25,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https://doi.org/10.55730/1300-0632.3974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/>
            <a:endParaRPr lang="en-IN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/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Debernardi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Silvana, et al. “A Combination of Urinary Biomarker Panel and 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PancRISK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Score for Earlier Detection of Pancreatic Cancer: A Case–Control Study.”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PLOS Medicine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12, Dec. 2020, p. e1003489. </a:t>
            </a:r>
            <a:r>
              <a:rPr lang="en-IN" sz="14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Journals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https://doi.org/10.1371/journal.pmed.1003489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/>
            <a:endParaRPr lang="en-IN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/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Ma, Han, et al. “Construction of a Convolutional Neural Network Classifier Developed by Computed Tomography Images for Pancreatic Cancer Diagnosis.”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 Journal of Gastroenterology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26, no. 34, Sept. 2020, pp. 5156–68.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www.wjgnet.com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https://doi.org/10.3748/wjg.v26.i34.5156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/>
            <a:endParaRPr lang="en-IN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/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P, Santosh Reddy, and Chandrasekar M. “PAD: A Pancreatic Cancer Detection Based on Extracted Medical Data through Ensemble Methods in Machine Learning.”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Computer Science and Applications (IJACSA)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2, 2, 51/28 2022.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thesai.org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https://doi.org/10.14569/IJACSA.2022.0130218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/>
            <a:endParaRPr lang="en-IN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/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Pancreatic Cancer Disease Detection-87% Accuracy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https://kaggle.com/code/anishsamantaray/pancreatic-cancer-disease-detection-87-accuracy. Accessed 10 Mar. 2024.</a:t>
            </a:r>
          </a:p>
          <a:p>
            <a:pPr marL="457200" indent="-457200" algn="l"/>
            <a:endParaRPr lang="en-IN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/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Setiawan, 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Qisthina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Syifa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 “Comparing Decision Tree and Logistic Regression for Pancreatic Cancer Classification.”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 International Conference on Decision Aid Sciences and Application (DASA)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2020, pp. 623–27.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https://doi.org/10.1109/DASA51403.2020.9317036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/>
            <a:endParaRPr lang="en-IN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/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1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Suneetha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et al. “Pancreatic Cancer Prediction through Convolutional Neural Networks.”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 7th International Conference on Intelligent Computing and Control Systems (ICICCS)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2023, pp. 602–07. </a:t>
            </a:r>
            <a:r>
              <a:rPr lang="en-IN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  <a:r>
              <a:rPr lang="en-IN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https://doi.org/10.1109/ICICCS56967.2023.10142618.</a:t>
            </a:r>
          </a:p>
        </p:txBody>
      </p:sp>
    </p:spTree>
    <p:extLst>
      <p:ext uri="{BB962C8B-B14F-4D97-AF65-F5344CB8AC3E}">
        <p14:creationId xmlns:p14="http://schemas.microsoft.com/office/powerpoint/2010/main" val="1326668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4BB9-9215-43FC-52FE-362EB7A3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C822-E275-7DEA-B7AB-BE6F1FF23DC2}"/>
              </a:ext>
            </a:extLst>
          </p:cNvPr>
          <p:cNvSpPr txBox="1">
            <a:spLocks/>
          </p:cNvSpPr>
          <p:nvPr/>
        </p:nvSpPr>
        <p:spPr>
          <a:xfrm>
            <a:off x="4088048" y="2841172"/>
            <a:ext cx="4015902" cy="5878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b="1" i="1" spc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90961D-B122-7FB2-7A05-113D5FD49DE5}"/>
              </a:ext>
            </a:extLst>
          </p:cNvPr>
          <p:cNvSpPr/>
          <p:nvPr/>
        </p:nvSpPr>
        <p:spPr>
          <a:xfrm>
            <a:off x="1789111" y="2029620"/>
            <a:ext cx="8613775" cy="0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CE77A0B-FFFD-C42F-2820-1A6A6CEDB1C4}"/>
              </a:ext>
            </a:extLst>
          </p:cNvPr>
          <p:cNvSpPr/>
          <p:nvPr/>
        </p:nvSpPr>
        <p:spPr>
          <a:xfrm>
            <a:off x="1789111" y="4275863"/>
            <a:ext cx="8613775" cy="0"/>
          </a:xfrm>
          <a:custGeom>
            <a:avLst/>
            <a:gdLst/>
            <a:ahLst/>
            <a:cxnLst/>
            <a:rect l="l" t="t" r="r" b="b"/>
            <a:pathLst>
              <a:path w="8613775">
                <a:moveTo>
                  <a:pt x="0" y="0"/>
                </a:moveTo>
                <a:lnTo>
                  <a:pt x="8613648" y="0"/>
                </a:lnTo>
              </a:path>
            </a:pathLst>
          </a:custGeom>
          <a:ln w="27432">
            <a:solidFill>
              <a:srgbClr val="CF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353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1650</Words>
  <Application>Microsoft Office PowerPoint</Application>
  <PresentationFormat>Widescreen</PresentationFormat>
  <Paragraphs>203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Shivani Prasad</dc:creator>
  <cp:lastModifiedBy>Shivani Prasad</cp:lastModifiedBy>
  <cp:revision>56</cp:revision>
  <dcterms:created xsi:type="dcterms:W3CDTF">2024-03-08T09:59:48Z</dcterms:created>
  <dcterms:modified xsi:type="dcterms:W3CDTF">2024-03-19T06:55:18Z</dcterms:modified>
</cp:coreProperties>
</file>